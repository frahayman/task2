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9.png"/><Relationship Id="rId11" Type="http://schemas.openxmlformats.org/officeDocument/2006/relationships/image" Target="../media/image-7-9.png"/><Relationship Id="rId12" Type="http://schemas.openxmlformats.org/officeDocument/2006/relationships/image" Target="../media/image-7-9.png"/><Relationship Id="rId13" Type="http://schemas.openxmlformats.org/officeDocument/2006/relationships/image" Target="../media/image-7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2.png"/><Relationship Id="rId7" Type="http://schemas.openxmlformats.org/officeDocument/2006/relationships/image" Target="../media/image-12-7.png"/><Relationship Id="rId8" Type="http://schemas.openxmlformats.org/officeDocument/2006/relationships/image" Target="../media/image-12-2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image" Target="../media/image-13-1.png"/><Relationship Id="rId6" Type="http://schemas.openxmlformats.org/officeDocument/2006/relationships/image" Target="../media/image-13-2.png"/><Relationship Id="rId7" Type="http://schemas.openxmlformats.org/officeDocument/2006/relationships/image" Target="../media/image-13-1.png"/><Relationship Id="rId8" Type="http://schemas.openxmlformats.org/officeDocument/2006/relationships/image" Target="../media/image-13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42A4C"/>
          </a:solidFill>
          <a:ln/>
        </p:spPr>
      </p:sp>
      <p:pic>
        <p:nvPicPr>
          <p:cNvPr id="4" name="Image 0" descr="icons/shield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SERIES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Awareness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Protect yourself and your organization.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663440"/>
            <a:ext cx="50292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•  Human-Layer Cyber Defense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240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icons/target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3454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84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Phishing?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4231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threat and why it matters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36208" y="2240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icons/layers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3454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084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Anatomy of an Attack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4231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phishing attempt actually unfolds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5204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icons/mail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6255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64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Types of Phishing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703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smishing, vishing &amp; more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35040" y="324612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36208" y="35204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icons/search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36255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64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Spotting Red Flags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03720" y="3703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links and fake websites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5262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8006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icons/users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90575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6451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Social Engineering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4983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tactics behind the attack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45262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48006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icons/shield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64" y="490575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6451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Best Practices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903720" y="4983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habits that keep you safe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80644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60807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6" name="Image 6" descr="icons/fileText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6185916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925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Real-World Cases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1417320" y="6263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actual breaches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035040" y="580644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236208" y="60807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1" name="Image 7" descr="icons/helpCircle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364" y="618591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03720" y="5925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Knowledge Check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6903720" y="6263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to test what you've learned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THREAT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form of social engineering where attackers impersonate a trusted source — a bank, a colleague, a well-known brand — to trick people into revealing sensitive information, clicking malicious links, or installing malware.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most common entry point for cyberattacks today — because it targets people, not just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187452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98424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869680" y="1984248"/>
            <a:ext cx="2514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a phishing email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32918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340156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3.4B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69680" y="3401568"/>
            <a:ext cx="2514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47091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4818888"/>
            <a:ext cx="1554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$4.9M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69680" y="4818888"/>
            <a:ext cx="2514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caused by phishing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a Phishing Attack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D3557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971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icons/search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31181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studies the target: job role, company, contacts, social media.</a:t>
            </a:r>
            <a:endParaRPr lang="en-US" sz="950" dirty="0"/>
          </a:p>
        </p:txBody>
      </p:sp>
      <p:pic>
        <p:nvPicPr>
          <p:cNvPr id="10" name="Image 1" descr="icons/chevronsRight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3566160"/>
            <a:ext cx="128016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27432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D3557"/>
          </a:solidFill>
          <a:ln/>
        </p:spPr>
      </p:sp>
      <p:sp>
        <p:nvSpPr>
          <p:cNvPr id="12" name="Shape 8"/>
          <p:cNvSpPr/>
          <p:nvPr/>
        </p:nvSpPr>
        <p:spPr>
          <a:xfrm>
            <a:off x="3543300" y="2971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2" descr="icons/mail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311810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44368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944368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Lure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7180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email, message, or website is crafted to appear trustworthy.</a:t>
            </a:r>
            <a:endParaRPr lang="en-US" sz="950" dirty="0"/>
          </a:p>
        </p:txBody>
      </p:sp>
      <p:pic>
        <p:nvPicPr>
          <p:cNvPr id="17" name="Image 3" descr="icons/chevronsRight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3566160"/>
            <a:ext cx="128016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27432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D3557"/>
          </a:solidFill>
          <a:ln/>
        </p:spPr>
      </p:sp>
      <p:sp>
        <p:nvSpPr>
          <p:cNvPr id="19" name="Shape 13"/>
          <p:cNvSpPr/>
          <p:nvPr/>
        </p:nvSpPr>
        <p:spPr>
          <a:xfrm>
            <a:off x="5737860" y="2971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0" name="Image 4" descr="icons/clock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311810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38928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138928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Trigger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16636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deadline or threat is added to short-circuit careful thinking.</a:t>
            </a:r>
            <a:endParaRPr lang="en-US" sz="950" dirty="0"/>
          </a:p>
        </p:txBody>
      </p:sp>
      <p:pic>
        <p:nvPicPr>
          <p:cNvPr id="24" name="Image 5" descr="icons/chevronsRight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72" y="3566160"/>
            <a:ext cx="128016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23760" y="27432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D3557"/>
          </a:solidFill>
          <a:ln/>
        </p:spPr>
      </p:sp>
      <p:sp>
        <p:nvSpPr>
          <p:cNvPr id="26" name="Shape 18"/>
          <p:cNvSpPr/>
          <p:nvPr/>
        </p:nvSpPr>
        <p:spPr>
          <a:xfrm>
            <a:off x="7932420" y="29718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6" descr="icons/link_0B1F3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8724" y="3118104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33488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7333488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36092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a link, opens an attachment, or enters credentials.</a:t>
            </a:r>
            <a:endParaRPr lang="en-US" sz="950" dirty="0"/>
          </a:p>
        </p:txBody>
      </p:sp>
      <p:pic>
        <p:nvPicPr>
          <p:cNvPr id="31" name="Image 7" descr="icons/chevronsRight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732" y="3566160"/>
            <a:ext cx="128016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18320" y="27432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D3557"/>
          </a:solidFill>
          <a:ln/>
        </p:spPr>
      </p:sp>
      <p:sp>
        <p:nvSpPr>
          <p:cNvPr id="33" name="Shape 23"/>
          <p:cNvSpPr/>
          <p:nvPr/>
        </p:nvSpPr>
        <p:spPr>
          <a:xfrm>
            <a:off x="10126980" y="29718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4" name="Image 8" descr="icons/x_0B1F3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3284" y="3118104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528048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9528048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55548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data, installs malware, or gains network access.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KNOW THE VARIANTS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67128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icons/mail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951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3464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1363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vendors, or brands, sent to thousands of targets at once.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2167128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icons/target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951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83464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62856" y="31363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personalized attacks aimed at a specific person, using real details about them.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4736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5904" y="2167128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icons/briefcase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29514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83464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75904" y="31363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high-value targets — often impersonating a CEO.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9592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197096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icons/smartphon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251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86460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51663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message, often with a malicious short link.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399592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197096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icons/phone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3251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86460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62856" y="51663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a phone call impersonating IT support, a bank, or law enforcement.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4736" y="399592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75904" y="4197096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icons/globe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251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86460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 / Fake Sites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75904" y="51663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victims to a fraudulent website that mimics a legitimate one.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RED FLAGS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Recognizing Phishing Emails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4F6F8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5577840" cy="50292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877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587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IT-Support@paypa1-secure.com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9352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826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32826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you@company.com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21208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94760"/>
            <a:ext cx="5212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Customer,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detected unusual activity on your account.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your identity within 24 hours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your account will be permanently suspended.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here to confirm: </a:t>
            </a:r>
            <a:pPr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http://paypa1-secure-verify.com</a:t>
            </a:r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any of these, stop and verify:</a:t>
            </a:r>
            <a:endParaRPr lang="en-US" sz="1300" dirty="0"/>
          </a:p>
        </p:txBody>
      </p:sp>
      <p:pic>
        <p:nvPicPr>
          <p:cNvPr id="16" name="Image 0" descr="icons/x_E639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5059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20840" y="2423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or lookalike sender domain ("paypa1" not "paypal")</a:t>
            </a:r>
            <a:endParaRPr lang="en-US" sz="1100" dirty="0"/>
          </a:p>
        </p:txBody>
      </p:sp>
      <p:pic>
        <p:nvPicPr>
          <p:cNvPr id="18" name="Image 1" descr="icons/x_E63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5351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20840" y="2926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real name</a:t>
            </a:r>
            <a:endParaRPr lang="en-US" sz="1100" dirty="0"/>
          </a:p>
        </p:txBody>
      </p:sp>
      <p:pic>
        <p:nvPicPr>
          <p:cNvPr id="20" name="Image 2" descr="icons/x_E639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564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3429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or threat of an account being closed</a:t>
            </a:r>
            <a:endParaRPr lang="en-US" sz="1100" dirty="0"/>
          </a:p>
        </p:txBody>
      </p:sp>
      <p:pic>
        <p:nvPicPr>
          <p:cNvPr id="22" name="Image 3" descr="icons/x_E6394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9593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084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shortened links that don't match the real brand</a:t>
            </a:r>
            <a:endParaRPr lang="en-US" sz="1100" dirty="0"/>
          </a:p>
        </p:txBody>
      </p:sp>
      <p:pic>
        <p:nvPicPr>
          <p:cNvPr id="24" name="Image 4" descr="icons/x_E6394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6227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20840" y="4434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spelling errors, or odd formatting</a:t>
            </a:r>
            <a:endParaRPr lang="en-US" sz="1100" dirty="0"/>
          </a:p>
        </p:txBody>
      </p:sp>
      <p:pic>
        <p:nvPicPr>
          <p:cNvPr id="26" name="Image 5" descr="icons/x_E639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651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49377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you did not request</a:t>
            </a:r>
            <a:endParaRPr lang="en-US" sz="1100" dirty="0"/>
          </a:p>
        </p:txBody>
      </p:sp>
      <p:pic>
        <p:nvPicPr>
          <p:cNvPr id="28" name="Image 6" descr="icons/x_E6394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468112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5440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PINs, or payment details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RED FLAGS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Recognizing Fake Websites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9ECEF"/>
            </a:solidFill>
            <a:prstDash val="solid"/>
          </a:ln>
        </p:spPr>
      </p:sp>
      <p:pic>
        <p:nvPicPr>
          <p:cNvPr id="5" name="Image 0" descr="icons/x_E639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396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011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http://secure-login.paypa1.verify-account.info</a:t>
            </a:r>
            <a:endParaRPr lang="en-US" sz="1200" dirty="0"/>
          </a:p>
        </p:txBody>
      </p:sp>
      <p:pic>
        <p:nvPicPr>
          <p:cNvPr id="7" name="Image 1" descr="icons/x_E63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163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icon, or the connection uses http:// instead of https://</a:t>
            </a:r>
            <a:endParaRPr lang="en-US" sz="1200" dirty="0"/>
          </a:p>
        </p:txBody>
      </p:sp>
      <p:pic>
        <p:nvPicPr>
          <p:cNvPr id="9" name="Image 2" descr="icons/x_E639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832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long, strange, or misspelled domain name unrelated to the real brand</a:t>
            </a:r>
            <a:endParaRPr lang="en-US" sz="1200" dirty="0"/>
          </a:p>
        </p:txBody>
      </p:sp>
      <p:pic>
        <p:nvPicPr>
          <p:cNvPr id="11" name="Image 3" descr="icons/x_E6394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5020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922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doesn't match the brand exactly (extra words, hyphens, wrong extension)</a:t>
            </a:r>
            <a:endParaRPr lang="en-US" sz="1200" dirty="0"/>
          </a:p>
        </p:txBody>
      </p:sp>
      <p:pic>
        <p:nvPicPr>
          <p:cNvPr id="13" name="Image 4" descr="icons/x_E6394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17136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4489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demanding urgent login or payment details</a:t>
            </a:r>
            <a:endParaRPr lang="en-US" sz="1200" dirty="0"/>
          </a:p>
        </p:txBody>
      </p:sp>
      <p:pic>
        <p:nvPicPr>
          <p:cNvPr id="15" name="Image 5" descr="icons/x_E639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84064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4400" y="5056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logos, broken layouts, or inconsistent branding</a:t>
            </a:r>
            <a:endParaRPr lang="en-US" sz="1200" dirty="0"/>
          </a:p>
        </p:txBody>
      </p:sp>
      <p:pic>
        <p:nvPicPr>
          <p:cNvPr id="17" name="Image 6" descr="icons/x_E6394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50992"/>
            <a:ext cx="237744" cy="23774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14400" y="5623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asks for more data than the real site would (PIN, full card number)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640080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</p:spPr>
      </p:sp>
      <p:pic>
        <p:nvPicPr>
          <p:cNvPr id="20" name="Image 7" descr="icons/shield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2331720"/>
            <a:ext cx="457200" cy="4572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15200" y="2331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a Website</a:t>
            </a:r>
            <a:endParaRPr lang="en-US" sz="1500" dirty="0"/>
          </a:p>
        </p:txBody>
      </p:sp>
      <p:pic>
        <p:nvPicPr>
          <p:cNvPr id="22" name="Image 8" descr="icons/check_00B4D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3090672"/>
            <a:ext cx="237744" cy="23774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708660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directly instead of clicking a link</a:t>
            </a:r>
            <a:endParaRPr lang="en-US" sz="1200" dirty="0"/>
          </a:p>
        </p:txBody>
      </p:sp>
      <p:pic>
        <p:nvPicPr>
          <p:cNvPr id="24" name="Image 9" descr="icons/check_00B4D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3694176"/>
            <a:ext cx="237744" cy="23774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7086600" y="36667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destination URL</a:t>
            </a:r>
            <a:endParaRPr lang="en-US" sz="1200" dirty="0"/>
          </a:p>
        </p:txBody>
      </p:sp>
      <p:pic>
        <p:nvPicPr>
          <p:cNvPr id="26" name="Image 10" descr="icons/check_00B4D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4297680"/>
            <a:ext cx="237744" cy="237744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086600" y="4270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https:// and a valid padlock certificate</a:t>
            </a:r>
            <a:endParaRPr lang="en-US" sz="1200" dirty="0"/>
          </a:p>
        </p:txBody>
      </p:sp>
      <p:pic>
        <p:nvPicPr>
          <p:cNvPr id="28" name="Image 11" descr="icons/check_00B4D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4901184"/>
            <a:ext cx="237744" cy="237744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086600" y="48737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domain letter-by-letter with the real one</a:t>
            </a:r>
            <a:endParaRPr lang="en-US" sz="1200" dirty="0"/>
          </a:p>
        </p:txBody>
      </p:sp>
      <p:pic>
        <p:nvPicPr>
          <p:cNvPr id="30" name="Image 12" descr="icons/check_00B4D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5504688"/>
            <a:ext cx="237744" cy="237744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7086600" y="54772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bookmarked link for banking and payment sites</a:t>
            </a:r>
            <a:endParaRPr lang="en-US" sz="1200" dirty="0"/>
          </a:p>
        </p:txBody>
      </p:sp>
      <p:sp>
        <p:nvSpPr>
          <p:cNvPr id="3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HUMAN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2140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icon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 or your account will be locked." Panic overrides caution.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212140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icons/briefc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402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62856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IT admin, or government agency to demand compliance.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4736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5904" y="212140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icons/gif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402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/ Curiosity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75904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prize, invoice, or delivery notice that's too tempting not to open.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31596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348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Familiarity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known colleague, friend, or vendor's identity to lower defenses.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31596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4" descr="icons/ale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3484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62856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legal action, fines, or exposure to pressure a quick reaction.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4736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30" name="Shape 23"/>
          <p:cNvSpPr/>
          <p:nvPr/>
        </p:nvSpPr>
        <p:spPr>
          <a:xfrm>
            <a:off x="8375904" y="431596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icons/help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43484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75904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on your team already completed this" to normalize compliance.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Real-World Example: The CEO Fraud</a:t>
            </a:r>
            <a:endParaRPr lang="en-US" sz="3200" dirty="0"/>
          </a:p>
        </p:txBody>
      </p:sp>
      <p:pic>
        <p:nvPicPr>
          <p:cNvPr id="4" name="Image 0" descr="icons/briefcase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2016, a finance employee at a major tech company received an email that appeared to come from the company's CEO, requesting an urgent wire transfer for a confidential acquisition.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was almost identical to the real one, and the tone matched executive urgency.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complied without a verbal confirmation call.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dollars were transferred to attacker-controlled accounts before the fraud was discovered.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pic>
        <p:nvPicPr>
          <p:cNvPr id="8" name="Image 1" descr="icons/flag_E63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31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720840" y="29718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7"/>
          <p:cNvSpPr/>
          <p:nvPr/>
        </p:nvSpPr>
        <p:spPr>
          <a:xfrm>
            <a:off x="67208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23760" y="29443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high-value or urgent requests through a second channel — call, don't reply to the email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720840" y="37490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223760" y="37216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impersonation relies on hierarchy — question unusual requests regardless of who they appear to come from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20840" y="452628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3"/>
          <p:cNvSpPr/>
          <p:nvPr/>
        </p:nvSpPr>
        <p:spPr>
          <a:xfrm>
            <a:off x="67208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23760" y="44988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approval processes should require multi-person sign-off for large transfers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20840" y="530352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223760" y="527608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look-alikes are easy to miss under time pressure — slow down before acting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Real-World Example: Credential Harvesting</a:t>
            </a:r>
            <a:endParaRPr lang="en-US" sz="3200" dirty="0"/>
          </a:p>
        </p:txBody>
      </p:sp>
      <p:pic>
        <p:nvPicPr>
          <p:cNvPr id="4" name="Image 0" descr="icons/loc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Cloud Storage Login Page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across an organization received an email claiming a shared document was waiting for review, with a link to "sign in to view it."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led to a pixel-perfect clone of a well-known cloud login page.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employees entered their real credentials.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gained access to internal email accounts and used them to launch further phishing attempts against partners and clients.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pic>
        <p:nvPicPr>
          <p:cNvPr id="8" name="Image 1" descr="icons/flag_E63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31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2331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720840" y="29718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7"/>
          <p:cNvSpPr/>
          <p:nvPr/>
        </p:nvSpPr>
        <p:spPr>
          <a:xfrm>
            <a:off x="67208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23760" y="29443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pixel-perfect design does not mean a page is legitimate — always check the URL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720840" y="374904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223760" y="37216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 would have blocked access even with stolen credentials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20840" y="452628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3"/>
          <p:cNvSpPr/>
          <p:nvPr/>
        </p:nvSpPr>
        <p:spPr>
          <a:xfrm>
            <a:off x="67208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23760" y="44988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account can cascade into attacks on partners and customers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20840" y="530352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223760" y="527608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document-sharing emails deserve extra scrutiny before clicking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STAY PROTECTED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Practices &amp; Tips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2140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icons/eye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when a message pressures urgency — legitimate requests can wait.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212140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icons/search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402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62856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 and domain, not just the display name.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4736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5904" y="212140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icons/key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402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78892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Everywhere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75904" y="309067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most credential-theft attacks cold.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3159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icons/lock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348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systems close the vulnerabilities phishing payloads rely 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3159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6" name="Image 4" descr="icons/refreshCw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3484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 Passwords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62856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manager prevents one breach from unlocking every account.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4736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D3557"/>
          </a:solidFill>
          <a:ln/>
        </p:spPr>
      </p:sp>
      <p:sp>
        <p:nvSpPr>
          <p:cNvPr id="30" name="Shape 23"/>
          <p:cNvSpPr/>
          <p:nvPr/>
        </p:nvSpPr>
        <p:spPr>
          <a:xfrm>
            <a:off x="8375904" y="43159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1" name="Image 5" descr="icons/flag_0B1F3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43484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98348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Just Delete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75904" y="528523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suspicious emails helps protect your entire organization.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INCIDENT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You Suspect You've Been Phished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403604" y="263347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icons/alert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7752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0416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fast matters more than acting perfectly — but stay calm and methodical.</a:t>
            </a:r>
            <a:endParaRPr lang="en-US" sz="1000" dirty="0"/>
          </a:p>
        </p:txBody>
      </p:sp>
      <p:pic>
        <p:nvPicPr>
          <p:cNvPr id="10" name="Image 1" descr="icons/chevronsRight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3566160"/>
            <a:ext cx="109728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80360" y="23774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4F6F8"/>
          </a:solidFill>
          <a:ln/>
        </p:spPr>
      </p:sp>
      <p:sp>
        <p:nvSpPr>
          <p:cNvPr id="12" name="Shape 8"/>
          <p:cNvSpPr/>
          <p:nvPr/>
        </p:nvSpPr>
        <p:spPr>
          <a:xfrm>
            <a:off x="3643884" y="263347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2" descr="icons/lock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77520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333756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017520" y="36118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044952" y="40416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update credentials for the affected account and any reused elsewhere.</a:t>
            </a:r>
            <a:endParaRPr lang="en-US" sz="1000" dirty="0"/>
          </a:p>
        </p:txBody>
      </p:sp>
      <p:pic>
        <p:nvPicPr>
          <p:cNvPr id="17" name="Image 3" descr="icons/chevronsRight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566160"/>
            <a:ext cx="109728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20640" y="23774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4F6F8"/>
          </a:solidFill>
          <a:ln/>
        </p:spPr>
      </p:sp>
      <p:sp>
        <p:nvSpPr>
          <p:cNvPr id="19" name="Shape 13"/>
          <p:cNvSpPr/>
          <p:nvPr/>
        </p:nvSpPr>
        <p:spPr>
          <a:xfrm>
            <a:off x="5884164" y="263347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4" descr="icons/flag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2775204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333756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257800" y="36118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285232" y="40416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 right away — early reporting limits the damage.</a:t>
            </a:r>
            <a:endParaRPr lang="en-US" sz="1000" dirty="0"/>
          </a:p>
        </p:txBody>
      </p:sp>
      <p:pic>
        <p:nvPicPr>
          <p:cNvPr id="24" name="Image 5" descr="icons/chevronsRight_0B1F3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3566160"/>
            <a:ext cx="109728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60920" y="23774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4F6F8"/>
          </a:solidFill>
          <a:ln/>
        </p:spPr>
      </p:sp>
      <p:sp>
        <p:nvSpPr>
          <p:cNvPr id="26" name="Shape 18"/>
          <p:cNvSpPr/>
          <p:nvPr/>
        </p:nvSpPr>
        <p:spPr>
          <a:xfrm>
            <a:off x="8124444" y="263347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6" descr="icons/creditCard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2775204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333756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7498080" y="36118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Accounts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525512" y="40416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bank and account activity for unauthorized transactions.</a:t>
            </a:r>
            <a:endParaRPr lang="en-US" sz="1000" dirty="0"/>
          </a:p>
        </p:txBody>
      </p:sp>
      <p:pic>
        <p:nvPicPr>
          <p:cNvPr id="31" name="Image 7" descr="icons/chevronsRight_0B1F3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3566160"/>
            <a:ext cx="109728" cy="27432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01200" y="23774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4F6F8"/>
          </a:solidFill>
          <a:ln/>
        </p:spPr>
      </p:sp>
      <p:sp>
        <p:nvSpPr>
          <p:cNvPr id="33" name="Shape 23"/>
          <p:cNvSpPr/>
          <p:nvPr/>
        </p:nvSpPr>
        <p:spPr>
          <a:xfrm>
            <a:off x="10364724" y="2633472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4" name="Image 8" descr="icons/users_00B4D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456" y="2775204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738360" y="333756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9738360" y="361188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Others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9765792" y="4041648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colleagues or contacts who may have received the same attack.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TEST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Knowledge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interactive quiz to reinforce today's training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D3557"/>
          </a:solidFill>
          <a:ln/>
        </p:spPr>
      </p:sp>
      <p:pic>
        <p:nvPicPr>
          <p:cNvPr id="6" name="Image 0" descr="icons/helpCircl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2860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An email urges you to "verify your account within 1 hour or lose access." This is most likely: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3081528"/>
            <a:ext cx="4937760" cy="0"/>
          </a:xfrm>
          <a:prstGeom prst="line">
            <a:avLst/>
          </a:prstGeom>
          <a:noFill/>
          <a:ln w="12700">
            <a:solidFill>
              <a:srgbClr val="2E4266"/>
            </a:solidFill>
            <a:prstDash val="solid"/>
          </a:ln>
        </p:spPr>
      </p:sp>
      <p:pic>
        <p:nvPicPr>
          <p:cNvPr id="9" name="Image 1" descr="icons/check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004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engineering urgency tactic — a major phishing red flag.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17920" y="21488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D3557"/>
          </a:solidFill>
          <a:ln/>
        </p:spPr>
      </p:sp>
      <p:pic>
        <p:nvPicPr>
          <p:cNvPr id="12" name="Image 2" descr="icons/helpCircle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3317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22860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 link displays as "yourbank.com" but the actual URL is different. What should you do?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46520" y="3081528"/>
            <a:ext cx="4937760" cy="0"/>
          </a:xfrm>
          <a:prstGeom prst="line">
            <a:avLst/>
          </a:prstGeom>
          <a:noFill/>
          <a:ln w="12700">
            <a:solidFill>
              <a:srgbClr val="2E4266"/>
            </a:solidFill>
            <a:prstDash val="solid"/>
          </a:ln>
        </p:spPr>
      </p:sp>
      <p:pic>
        <p:nvPicPr>
          <p:cNvPr id="15" name="Image 3" descr="icons/check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20040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— hover to check the real destination first, or type the address manually.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D3557"/>
          </a:solidFill>
          <a:ln/>
        </p:spPr>
      </p:sp>
      <p:pic>
        <p:nvPicPr>
          <p:cNvPr id="18" name="Image 4" descr="icons/helpCircle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43484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3891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You receive an unexpected invoice attachment from an unknown sender. Best action?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777240" y="5184648"/>
            <a:ext cx="4937760" cy="0"/>
          </a:xfrm>
          <a:prstGeom prst="line">
            <a:avLst/>
          </a:prstGeom>
          <a:noFill/>
          <a:ln w="12700">
            <a:solidFill>
              <a:srgbClr val="2E4266"/>
            </a:solidFill>
            <a:prstDash val="solid"/>
          </a:ln>
        </p:spPr>
      </p:sp>
      <p:pic>
        <p:nvPicPr>
          <p:cNvPr id="21" name="Image 5" descr="icons/check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303520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open it — report the email to your security/IT team.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6217920" y="4251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D3557"/>
          </a:solidFill>
          <a:ln/>
        </p:spPr>
      </p:sp>
      <p:pic>
        <p:nvPicPr>
          <p:cNvPr id="24" name="Image 6" descr="icons/helpCircle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434840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12280" y="43891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True or False: MFA makes phishing attacks completely impossible.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446520" y="5184648"/>
            <a:ext cx="4937760" cy="0"/>
          </a:xfrm>
          <a:prstGeom prst="line">
            <a:avLst/>
          </a:prstGeom>
          <a:noFill/>
          <a:ln w="12700">
            <a:solidFill>
              <a:srgbClr val="2E4266"/>
            </a:solidFill>
            <a:prstDash val="solid"/>
          </a:ln>
        </p:spPr>
      </p:sp>
      <p:pic>
        <p:nvPicPr>
          <p:cNvPr id="27" name="Image 7" descr="icons/check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530352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6656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— MFA greatly reduces risk, but caution and reporting are still essential.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42A4C"/>
          </a:solidFill>
          <a:ln/>
        </p:spPr>
      </p:sp>
      <p:pic>
        <p:nvPicPr>
          <p:cNvPr id="4" name="Image 0" descr="icons/shield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Stay Alert. Stay Secure.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50876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is a decision. When in doubt, verify — then click.</a:t>
            </a:r>
            <a:endParaRPr lang="en-US" sz="1500" dirty="0"/>
          </a:p>
        </p:txBody>
      </p:sp>
      <p:pic>
        <p:nvPicPr>
          <p:cNvPr id="7" name="Image 1" descr="icons/fl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06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50208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Security Team</a:t>
            </a:r>
            <a:endParaRPr lang="en-US" sz="1200" dirty="0"/>
          </a:p>
        </p:txBody>
      </p:sp>
      <p:pic>
        <p:nvPicPr>
          <p:cNvPr id="9" name="Image 2" descr="icons/help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2062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79408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IT Support anytime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126480" y="5989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Phishing Awareness Training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2026-07-18T02:17:45Z</dcterms:created>
  <dcterms:modified xsi:type="dcterms:W3CDTF">2026-07-18T02:17:45Z</dcterms:modified>
</cp:coreProperties>
</file>